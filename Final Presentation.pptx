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4" r:id="rId4"/>
    <p:sldId id="259" r:id="rId5"/>
    <p:sldId id="260" r:id="rId6"/>
    <p:sldId id="262" r:id="rId7"/>
    <p:sldId id="263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51"/>
    <p:restoredTop sz="91419"/>
  </p:normalViewPr>
  <p:slideViewPr>
    <p:cSldViewPr snapToGrid="0">
      <p:cViewPr varScale="1">
        <p:scale>
          <a:sx n="72" d="100"/>
          <a:sy n="72" d="100"/>
        </p:scale>
        <p:origin x="4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042E66-FC1C-644E-BAAD-0E998C4B1E2B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FFA9BC-F74B-CD48-A46D-ED0889884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230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FA9BC-F74B-CD48-A46D-ED088988427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436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FA9BC-F74B-CD48-A46D-ED088988427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019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EFC8A-3593-9BE6-CE81-DBAFC075AB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13DAAE-B32C-6D8B-3D23-0C53C71706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20BEA-A86C-388B-B610-DEEEB6F6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56F84-58C0-0448-97BF-3977BA4408F0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2FB5A-5FD8-B25C-6340-634428CC6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DV2638 –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4F8CE-1800-79E5-2513-8D3AB3D5A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5611-0EAC-EE49-A74D-DA1AB1C67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06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DC766-BB10-18EA-B0A4-8BA5904B1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972F1-7997-883C-6909-46E3108D0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CBD90-7E48-8E6D-1397-05A5E8D15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B927-DFA3-FC41-9B3C-17589CD78B98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F8268-12F2-50F8-E00C-039CB28BC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DV2638 –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28D92-F7D2-3B97-5E69-FA54520C8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5611-0EAC-EE49-A74D-DA1AB1C67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04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8AB22-A347-A01F-E638-442187467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662097-7BD8-C497-224A-0BE051541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1B35B-F1EA-65FD-886B-FFA7F4B9C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98161-F13C-AA4F-88F6-54860E4DEBC8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DC2CF-77FF-0AA4-D71C-2391D0326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DV2638 –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56D0A-577D-E172-8B8A-44E9E23DF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5611-0EAC-EE49-A74D-DA1AB1C67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946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8224F-C484-DCD6-B035-D0BBB7D02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1FAFB-FAFC-C66A-A37D-1B7D677F83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FCAC9D-699D-A907-57CD-ED19D5EC63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F9DF6-D024-BF58-1BFE-931E1FBFB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776D6-930B-E242-8D9B-7A855EE7F2F9}" type="datetime1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04CD52-E314-F09C-8A91-16574C6D2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DV2638 –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B99A3C-005C-2675-CF23-53D7E3BBC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5611-0EAC-EE49-A74D-DA1AB1C67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508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781A3-A74F-0873-B27C-577D65427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0EAF43-37C7-E44B-E52E-792EC45FF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F2F033-499B-0C5F-0937-222149F2BD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0B8856-E484-B7F6-BE7B-F09629B732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7E5769-8780-7E19-B8B1-273D410AAB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AC1062-E965-6826-BED0-CC9A02969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434F5-35BD-BA46-B264-0BCCE78EC8F0}" type="datetime1">
              <a:rPr lang="en-US" smtClean="0"/>
              <a:t>3/25/26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F7ACE4-6D55-957F-D495-438B3B973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DV2638 – Machine Learning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EC957A-DD55-A472-A588-890D961C2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5611-0EAC-EE49-A74D-DA1AB1C67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844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2DA4A-2E5E-A3BC-6768-3FF4C4988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2123BA-95FA-5406-B344-62809BE72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CEB88-30F6-3342-9778-74EC9500C542}" type="datetime1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A30E29-8976-4F9A-AF35-D2B0D8904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DV2638 – Machine Learning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150DF8-D966-D6A1-FFA6-620949017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5611-0EAC-EE49-A74D-DA1AB1C67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049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FEF0F9-220D-B7F6-3F99-D83474C97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59428-80DC-0642-BAF8-097A472512E9}" type="datetime1">
              <a:rPr lang="en-US" smtClean="0"/>
              <a:t>3/25/26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F99BD8-8723-1E83-1B1B-5672E6DB7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DV2638 – Machine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0C297-06F8-DE5D-1D45-6483794F0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5611-0EAC-EE49-A74D-DA1AB1C67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987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A98CD-F911-9113-E2CC-BE4164D2D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6A9F3-0668-01EB-0DAD-E94D202AF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D2AF1-9007-F115-4022-42C06E30D8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DFED22-F8A8-E85E-3F2B-F4027C230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DCF94-746B-BA4B-B606-E235C7CBE1F5}" type="datetime1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7C42A1-AAFD-7DE2-B1CE-5753D9D61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DV2638 –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0024E0-74EF-A1CE-ABF5-B98225925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5611-0EAC-EE49-A74D-DA1AB1C67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166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87854-9C4F-E6AD-F61F-C3EA32247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B4BD74-C30F-15F0-96DD-1A95463A17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453734-8102-8EF1-4A0F-9C2C0CD97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6DEEB0-EBE8-D5E1-A4F9-E36DA2229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C0948-E7FA-F242-9CF2-93334B5A9D3E}" type="datetime1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D4C23E-0402-3A93-79BF-3DD96E1EF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DV2638 –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200960-430D-E53D-2102-B43A640FB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5611-0EAC-EE49-A74D-DA1AB1C67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86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0D9AB-3407-E2D9-ED0B-6B64FC7D1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21BE96-9491-318A-0D92-A343731824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03F7A-6CE8-20CE-336B-48DB24AE0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1C2E0-BC47-E04C-9B24-859F4D3CD8B2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D2AF6-71EF-739A-4C38-0A6AC0189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DV2638 –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D2751-95DC-601A-808D-014531173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5611-0EAC-EE49-A74D-DA1AB1C67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922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E305C3-6CA5-6EBE-E2CB-F8321E9E24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DF4185-E17D-C073-0214-C8DDEDC981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267FB-60AF-2BC3-A859-80E2AD8B4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1CF90-A454-A84E-8449-7EBF80EA6F1D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78087-8C98-CBFB-338F-0D97A20AE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DV2638 –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4B67F-6E3B-9FBD-D1B9-4EE8BDDF7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5611-0EAC-EE49-A74D-DA1AB1C67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768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50C1E9-73A5-0B19-207F-0B4CDEAC7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7C819-7FDE-8C7E-6225-38E8950F8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82899-50BE-A90D-7131-58889326DE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893C88-7A6A-3840-B90D-CD1B4986E77C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DD957-62F9-C794-321C-4612BA4543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DV2638 –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2DA5E-A8D7-49B1-A5E2-F3D7C7D9FA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BF5611-0EAC-EE49-A74D-DA1AB1C67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364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Blekinge Tekniska Högskola – tema.storynews.se">
            <a:extLst>
              <a:ext uri="{FF2B5EF4-FFF2-40B4-BE49-F238E27FC236}">
                <a16:creationId xmlns:a16="http://schemas.microsoft.com/office/drawing/2014/main" id="{6D7BDA2D-8117-9691-2B91-29863463D5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14375"/>
            <a:ext cx="12192000" cy="542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109655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07" name="Rectangle 210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truck with a hologram over it&#10;&#10;AI-generated content may be incorrect.">
            <a:extLst>
              <a:ext uri="{FF2B5EF4-FFF2-40B4-BE49-F238E27FC236}">
                <a16:creationId xmlns:a16="http://schemas.microsoft.com/office/drawing/2014/main" id="{19CE1A4C-E67C-2E13-1047-486508DF61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9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2109" name="Rectangle 2108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520386-E68F-749A-4FAA-4543ABE36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223" y="136525"/>
            <a:ext cx="4739951" cy="355839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000" b="1" dirty="0"/>
              <a:t>Interpretable Predictive Maintenance for SCANIA Trucks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06FFACA-92D6-4B7F-8C3A-C29043A32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223" y="4239433"/>
            <a:ext cx="4516017" cy="24820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Group No: 28</a:t>
            </a:r>
          </a:p>
          <a:p>
            <a:pPr lvl="1"/>
            <a:r>
              <a:rPr lang="en-US" sz="2000" dirty="0"/>
              <a:t>Muhammad Umair A.B.</a:t>
            </a:r>
          </a:p>
          <a:p>
            <a:r>
              <a:rPr lang="en-US" sz="2000" dirty="0"/>
              <a:t>Course Professor: </a:t>
            </a:r>
          </a:p>
          <a:p>
            <a:pPr lvl="1"/>
            <a:r>
              <a:rPr lang="en-US" sz="2000" dirty="0"/>
              <a:t>Shahrooz </a:t>
            </a:r>
            <a:r>
              <a:rPr lang="en-US" sz="2000" dirty="0" err="1"/>
              <a:t>Abghari</a:t>
            </a:r>
            <a:endParaRPr lang="en-US" sz="2000" dirty="0"/>
          </a:p>
          <a:p>
            <a:pPr lvl="1"/>
            <a:r>
              <a:rPr lang="en-US" sz="2000" dirty="0"/>
              <a:t>Veselka </a:t>
            </a:r>
            <a:r>
              <a:rPr lang="en-US" sz="2000" dirty="0" err="1"/>
              <a:t>Boeva</a:t>
            </a:r>
            <a:endParaRPr lang="en-US" sz="200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70148A-B2B2-9DEF-42FE-E88926AC0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b="1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DV2640 – Advanced Machine Learning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4D6FEA-B59D-D419-5BCF-71902CD2E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  <a:defRPr/>
            </a:pPr>
            <a:fld id="{50BF5611-0EAC-EE49-A74D-DA1AB1C67569}" type="slidenum">
              <a:rPr lang="en-US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2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05572767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087552-A9C0-F550-8CEE-054DC3687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6" name="Rectangle 3085">
            <a:extLst>
              <a:ext uri="{FF2B5EF4-FFF2-40B4-BE49-F238E27FC236}">
                <a16:creationId xmlns:a16="http://schemas.microsoft.com/office/drawing/2014/main" id="{41438FF6-CC1E-A700-96D8-9ADA2EFB39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258F23-4AF0-4D80-2FCC-6CEBBF0EC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325369"/>
            <a:ext cx="4670097" cy="1956841"/>
          </a:xfrm>
        </p:spPr>
        <p:txBody>
          <a:bodyPr anchor="b">
            <a:normAutofit/>
          </a:bodyPr>
          <a:lstStyle/>
          <a:p>
            <a:r>
              <a:rPr lang="en-US" sz="5400" dirty="0"/>
              <a:t>Introduction</a:t>
            </a:r>
          </a:p>
        </p:txBody>
      </p:sp>
      <p:sp>
        <p:nvSpPr>
          <p:cNvPr id="3088" name="sketchy line">
            <a:extLst>
              <a:ext uri="{FF2B5EF4-FFF2-40B4-BE49-F238E27FC236}">
                <a16:creationId xmlns:a16="http://schemas.microsoft.com/office/drawing/2014/main" id="{4560BFAC-EBAA-47A0-B0DF-045129A91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FAF3D-B6EE-B5A3-EAE7-6C29E5884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7" y="2872899"/>
            <a:ext cx="4974245" cy="3623156"/>
          </a:xfrm>
        </p:spPr>
        <p:txBody>
          <a:bodyPr>
            <a:normAutofit/>
          </a:bodyPr>
          <a:lstStyle/>
          <a:p>
            <a:r>
              <a:rPr lang="en-US" sz="2400" dirty="0"/>
              <a:t>Traditional: Reactive Maintenance (Fix it when it breaks).</a:t>
            </a:r>
          </a:p>
          <a:p>
            <a:r>
              <a:rPr lang="en-US" sz="2400" dirty="0"/>
              <a:t>Modern: Predictive Maintenance (Fix it before it breaks).</a:t>
            </a:r>
          </a:p>
          <a:p>
            <a:r>
              <a:rPr lang="en-US" sz="2400" b="1" dirty="0"/>
              <a:t>Key Challenge</a:t>
            </a:r>
            <a:r>
              <a:rPr lang="en-US" sz="2400" dirty="0"/>
              <a:t>: Current methods use Deep Learning (LSTMs/Transformers).</a:t>
            </a:r>
          </a:p>
          <a:p>
            <a:r>
              <a:rPr lang="en-US" sz="2400" dirty="0"/>
              <a:t>Issue: “Black Boxes” </a:t>
            </a:r>
            <a:r>
              <a:rPr lang="en-US" sz="2400" dirty="0">
                <a:sym typeface="Wingdings" pitchFamily="2" charset="2"/>
              </a:rPr>
              <a:t> </a:t>
            </a:r>
            <a:r>
              <a:rPr lang="en-US" sz="2400" dirty="0"/>
              <a:t>Low trust among domain experts.</a:t>
            </a:r>
          </a:p>
        </p:txBody>
      </p:sp>
      <p:pic>
        <p:nvPicPr>
          <p:cNvPr id="2050" name="Picture 2" descr="Trucking Logistics: What It Is, How It Works and The Business… | Itefy">
            <a:extLst>
              <a:ext uri="{FF2B5EF4-FFF2-40B4-BE49-F238E27FC236}">
                <a16:creationId xmlns:a16="http://schemas.microsoft.com/office/drawing/2014/main" id="{9F456757-3BBF-F516-E212-430EB7FE89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73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522BB0-3AEC-7715-2EF4-C2AA52AF0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48400" y="6356350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b="1" dirty="0">
                <a:solidFill>
                  <a:schemeClr val="tx1"/>
                </a:solidFill>
              </a:rPr>
              <a:t>DV2640 – Advanced Machine Learning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4F7E60-6140-7739-182A-4417EBC5A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356350"/>
            <a:ext cx="914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0BF5611-0EAC-EE49-A74D-DA1AB1C67569}" type="slidenum">
              <a:rPr lang="en-US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8685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45B9FE-6C87-1627-8684-722DB64FD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 dirty="0"/>
              <a:t>Research Question</a:t>
            </a:r>
          </a:p>
        </p:txBody>
      </p:sp>
      <p:sp>
        <p:nvSpPr>
          <p:cNvPr id="4105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A4922-A839-EC02-0BA7-DAE01E75B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7945120" cy="3320668"/>
          </a:xfrm>
        </p:spPr>
        <p:txBody>
          <a:bodyPr>
            <a:normAutofit/>
          </a:bodyPr>
          <a:lstStyle/>
          <a:p>
            <a:r>
              <a:rPr lang="x-none"/>
              <a:t>Can classical algorithms effectively mine predictive failure patterns from complex sensor data to provide an interpretable alternative to Deep Learning for truck failure predictions?</a:t>
            </a:r>
            <a:endParaRPr lang="en-US" dirty="0"/>
          </a:p>
          <a:p>
            <a:endParaRPr lang="en-US" dirty="0"/>
          </a:p>
        </p:txBody>
      </p:sp>
      <p:pic>
        <p:nvPicPr>
          <p:cNvPr id="4098" name="Picture 2" descr="Line,Line art,Symbol,Clip art,Font,Number,Sign,Black-and-white #142225 -  Free Icon Library">
            <a:extLst>
              <a:ext uri="{FF2B5EF4-FFF2-40B4-BE49-F238E27FC236}">
                <a16:creationId xmlns:a16="http://schemas.microsoft.com/office/drawing/2014/main" id="{2E0DD36E-4B20-07A1-38D9-6E113D450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>
            <a:fillRect/>
          </a:stretch>
        </p:blipFill>
        <p:spPr bwMode="auto">
          <a:xfrm>
            <a:off x="8752607" y="2013155"/>
            <a:ext cx="3439393" cy="342900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BCB57F-17D0-248C-13A2-6E0E164C9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48400" y="6356350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b="1" dirty="0">
                <a:solidFill>
                  <a:schemeClr val="tx1"/>
                </a:solidFill>
              </a:rPr>
              <a:t>DV2640 – Advanced Machine Learning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25B56A-5CCD-ED1A-CF5F-E1AE97B29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356350"/>
            <a:ext cx="914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0BF5611-0EAC-EE49-A74D-DA1AB1C67569}" type="slidenum">
              <a:rPr lang="en-US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6148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45" name="Rectangle 5144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96B4F6-B36F-71EB-48EA-5562F75BE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Dataset &amp; Challenges</a:t>
            </a:r>
            <a:endParaRPr lang="en-US" sz="5400" dirty="0"/>
          </a:p>
        </p:txBody>
      </p:sp>
      <p:sp>
        <p:nvSpPr>
          <p:cNvPr id="5146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473D8-F4B5-12F3-F52E-9C3077A76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8"/>
            <a:ext cx="4828391" cy="3483451"/>
          </a:xfrm>
        </p:spPr>
        <p:txBody>
          <a:bodyPr>
            <a:normAutofit fontScale="92500" lnSpcReduction="20000"/>
          </a:bodyPr>
          <a:lstStyle/>
          <a:p>
            <a:r>
              <a:rPr lang="en-US" sz="2200" dirty="0"/>
              <a:t>Dataset: SCANIA Component X (2025)</a:t>
            </a:r>
          </a:p>
          <a:p>
            <a:r>
              <a:rPr lang="en-US" sz="2200" dirty="0"/>
              <a:t>1.12M time-step observations</a:t>
            </a:r>
          </a:p>
          <a:p>
            <a:r>
              <a:rPr lang="en-US" sz="2200" dirty="0"/>
              <a:t>107 sensor columns</a:t>
            </a:r>
          </a:p>
          <a:p>
            <a:r>
              <a:rPr lang="en-US" sz="2200" dirty="0"/>
              <a:t>Null values </a:t>
            </a:r>
            <a:r>
              <a:rPr lang="en-US" sz="2200" dirty="0">
                <a:sym typeface="Wingdings" pitchFamily="2" charset="2"/>
              </a:rPr>
              <a:t> </a:t>
            </a:r>
            <a:r>
              <a:rPr lang="en-US" sz="2200" dirty="0" err="1">
                <a:sym typeface="Wingdings" pitchFamily="2" charset="2"/>
              </a:rPr>
              <a:t>ffil</a:t>
            </a:r>
            <a:r>
              <a:rPr lang="en-US" sz="2200" dirty="0">
                <a:sym typeface="Wingdings" pitchFamily="2" charset="2"/>
              </a:rPr>
              <a:t> imputation + dummies</a:t>
            </a:r>
            <a:endParaRPr lang="en-US" sz="2200" dirty="0"/>
          </a:p>
          <a:p>
            <a:r>
              <a:rPr lang="en-US" sz="2200" dirty="0"/>
              <a:t>Extreme class imbalance (2.8% failures in test set) </a:t>
            </a:r>
            <a:r>
              <a:rPr lang="en-US" sz="2200" dirty="0">
                <a:sym typeface="Wingdings" pitchFamily="2" charset="2"/>
              </a:rPr>
              <a:t></a:t>
            </a:r>
            <a:r>
              <a:rPr lang="en-US" sz="2200" dirty="0"/>
              <a:t> SMOTE</a:t>
            </a:r>
          </a:p>
          <a:p>
            <a:r>
              <a:rPr lang="en-US" sz="2200" dirty="0"/>
              <a:t>Multi-class </a:t>
            </a:r>
            <a:r>
              <a:rPr lang="en-US" sz="2200" dirty="0">
                <a:sym typeface="Wingdings" pitchFamily="2" charset="2"/>
              </a:rPr>
              <a:t> binary classification</a:t>
            </a:r>
            <a:endParaRPr lang="en-US" sz="2200" dirty="0"/>
          </a:p>
          <a:p>
            <a:r>
              <a:rPr lang="en-US" sz="2200" dirty="0"/>
              <a:t>Cumulative counters </a:t>
            </a:r>
            <a:r>
              <a:rPr lang="en-US" sz="2200" dirty="0">
                <a:sym typeface="Wingdings" pitchFamily="2" charset="2"/>
              </a:rPr>
              <a:t> temporal features</a:t>
            </a:r>
            <a:endParaRPr lang="en-US" sz="2200" dirty="0"/>
          </a:p>
          <a:p>
            <a:r>
              <a:rPr lang="en-US" sz="2200" dirty="0"/>
              <a:t>High dimensionality (1,770 features) </a:t>
            </a:r>
            <a:r>
              <a:rPr lang="en-US" sz="2200" dirty="0">
                <a:sym typeface="Wingdings" pitchFamily="2" charset="2"/>
              </a:rPr>
              <a:t> Feature selection</a:t>
            </a:r>
            <a:endParaRPr lang="en-US" sz="2200" dirty="0"/>
          </a:p>
        </p:txBody>
      </p:sp>
      <p:pic>
        <p:nvPicPr>
          <p:cNvPr id="1026" name="Picture 2" descr="Overcoming clipart images and royalty-free illustrations | Clipart.com  School Edition">
            <a:extLst>
              <a:ext uri="{FF2B5EF4-FFF2-40B4-BE49-F238E27FC236}">
                <a16:creationId xmlns:a16="http://schemas.microsoft.com/office/drawing/2014/main" id="{ECA2D1A7-E801-49AB-134F-534389E421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64" r="7784" b="1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29517E-56E0-5462-ACCB-39A623508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48400" y="6356350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b="1" dirty="0">
                <a:solidFill>
                  <a:schemeClr val="tx1"/>
                </a:solidFill>
              </a:rPr>
              <a:t>DV2640 – Advanced Machine Learning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6B6985-D897-DAEB-4BC6-B0089168A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356350"/>
            <a:ext cx="914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0BF5611-0EAC-EE49-A74D-DA1AB1C67569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DEE31161-C869-0516-87B6-27CE48AC9FDE}"/>
              </a:ext>
            </a:extLst>
          </p:cNvPr>
          <p:cNvSpPr txBox="1">
            <a:spLocks/>
          </p:cNvSpPr>
          <p:nvPr/>
        </p:nvSpPr>
        <p:spPr>
          <a:xfrm>
            <a:off x="10567416" y="6307010"/>
            <a:ext cx="914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50BF5611-0EAC-EE49-A74D-DA1AB1C67569}" type="slidenum">
              <a:rPr lang="en-US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6347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93" name="Rectangle 7192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9A17BC-61AC-61F6-6E4B-140035ABA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 dirty="0"/>
              <a:t>Results: ML vs. Deep Learning</a:t>
            </a:r>
          </a:p>
        </p:txBody>
      </p:sp>
      <p:sp>
        <p:nvSpPr>
          <p:cNvPr id="7194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D6210-C664-31F4-1704-5C59B31BD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5" y="2660904"/>
            <a:ext cx="7050047" cy="4085970"/>
          </a:xfrm>
        </p:spPr>
        <p:txBody>
          <a:bodyPr anchor="t">
            <a:normAutofit fontScale="92500" lnSpcReduction="10000"/>
          </a:bodyPr>
          <a:lstStyle/>
          <a:p>
            <a:r>
              <a:rPr lang="en-US" dirty="0"/>
              <a:t>For the DL baseline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2-layer LSTM.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directly answers the research question: </a:t>
            </a:r>
            <a:r>
              <a:rPr lang="en-US" b="1" dirty="0"/>
              <a:t>YES, classical ML can replace DL here!</a:t>
            </a:r>
            <a:endParaRPr lang="en-US" dirty="0"/>
          </a:p>
        </p:txBody>
      </p:sp>
      <p:pic>
        <p:nvPicPr>
          <p:cNvPr id="6" name="Picture 5" descr="A graphic of a science and research&#10;&#10;AI-generated content may be incorrect.">
            <a:extLst>
              <a:ext uri="{FF2B5EF4-FFF2-40B4-BE49-F238E27FC236}">
                <a16:creationId xmlns:a16="http://schemas.microsoft.com/office/drawing/2014/main" id="{26E2E5FB-18DC-E862-8DED-56E7952D1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4796" y="212344"/>
            <a:ext cx="3963391" cy="4085971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025F5B-22CB-1F45-EF92-5FC2C59F4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b="1" dirty="0">
                <a:solidFill>
                  <a:srgbClr val="FFFFFF"/>
                </a:solidFill>
              </a:rPr>
              <a:t>DV2640 – Advanced Machine Learning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47B2CD-5174-4D29-F1C8-8B6AAA1C3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0BF5611-0EAC-EE49-A74D-DA1AB1C67569}" type="slidenum">
              <a:rPr lang="en-US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06599F8-676D-4561-DC04-2DEC16648A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4185191"/>
              </p:ext>
            </p:extLst>
          </p:nvPr>
        </p:nvGraphicFramePr>
        <p:xfrm>
          <a:off x="482600" y="3208973"/>
          <a:ext cx="8128000" cy="211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971916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9375031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6505409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4691320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031985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ROC-AUC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28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XGBoost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1725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2751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0825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Logistic Reg.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06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2501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9" name="Rectangle 819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E00A96-AF1E-DB60-EE84-3AA70EA44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4200" dirty="0"/>
              <a:t>SHAP Analysis</a:t>
            </a:r>
          </a:p>
        </p:txBody>
      </p:sp>
      <p:sp>
        <p:nvSpPr>
          <p:cNvPr id="820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927F69-FD08-8CBE-3A2B-067914FAE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48400" y="6356350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b="1" dirty="0">
                <a:solidFill>
                  <a:srgbClr val="FFFFFF"/>
                </a:solidFill>
              </a:rPr>
              <a:t>DV2640 – Advanced Machine Learning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88071E-6151-3559-C5E9-D0A0F82BA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356350"/>
            <a:ext cx="914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0BF5611-0EAC-EE49-A74D-DA1AB1C67569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6615F0-E630-DF40-0C24-D8E7491DA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7508" y="-17928"/>
            <a:ext cx="56146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219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B9C042-D5F7-667A-23D1-B6912A4A7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9" name="Rectangle 8198">
            <a:extLst>
              <a:ext uri="{FF2B5EF4-FFF2-40B4-BE49-F238E27FC236}">
                <a16:creationId xmlns:a16="http://schemas.microsoft.com/office/drawing/2014/main" id="{0E636186-3A9E-73DE-EF11-FE470C5DC6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009880-3630-B56B-AA0D-25202B30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4200"/>
              <a:t>Questions &amp; Discussion</a:t>
            </a:r>
            <a:br>
              <a:rPr lang="en-US" sz="4200"/>
            </a:br>
            <a:endParaRPr lang="en-US" sz="4200"/>
          </a:p>
        </p:txBody>
      </p:sp>
      <p:sp>
        <p:nvSpPr>
          <p:cNvPr id="8201" name="sketchy line">
            <a:extLst>
              <a:ext uri="{FF2B5EF4-FFF2-40B4-BE49-F238E27FC236}">
                <a16:creationId xmlns:a16="http://schemas.microsoft.com/office/drawing/2014/main" id="{F9920B0D-2568-E5BE-753F-DD8A94A95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662EC-D39E-8834-8326-784C4C789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endParaRPr lang="en-US" sz="2200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b="1" dirty="0"/>
              <a:t>Thank You</a:t>
            </a:r>
            <a:endParaRPr lang="en-US" dirty="0"/>
          </a:p>
        </p:txBody>
      </p:sp>
      <p:pic>
        <p:nvPicPr>
          <p:cNvPr id="8194" name="Picture 2" descr="How To Write An Effective Discussion Question | UBIS">
            <a:extLst>
              <a:ext uri="{FF2B5EF4-FFF2-40B4-BE49-F238E27FC236}">
                <a16:creationId xmlns:a16="http://schemas.microsoft.com/office/drawing/2014/main" id="{A792C0AF-8DF8-2DD5-EBB1-41B2D8286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13" r="18085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4478F0-CF14-69E8-5BB5-0B79822BC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48400" y="6356350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b="1" dirty="0">
                <a:solidFill>
                  <a:srgbClr val="FFFFFF"/>
                </a:solidFill>
              </a:rPr>
              <a:t>DV2640 – Advanced Machine Learning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75E357-8109-E834-EC53-10F851829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356350"/>
            <a:ext cx="914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0BF5611-0EAC-EE49-A74D-DA1AB1C67569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5688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1323</TotalTime>
  <Words>266</Words>
  <Application>Microsoft Macintosh PowerPoint</Application>
  <PresentationFormat>Widescreen</PresentationFormat>
  <Paragraphs>79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Wingdings</vt:lpstr>
      <vt:lpstr>Office Theme</vt:lpstr>
      <vt:lpstr>PowerPoint Presentation</vt:lpstr>
      <vt:lpstr>Interpretable Predictive Maintenance for SCANIA Trucks</vt:lpstr>
      <vt:lpstr>Introduction</vt:lpstr>
      <vt:lpstr>Research Question</vt:lpstr>
      <vt:lpstr>Dataset &amp; Challenges</vt:lpstr>
      <vt:lpstr>Results: ML vs. Deep Learning</vt:lpstr>
      <vt:lpstr>SHAP Analysis</vt:lpstr>
      <vt:lpstr>Questions &amp; Discussion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Umair Akram Butt</dc:creator>
  <cp:lastModifiedBy>Muhammad Umair Akram Butt</cp:lastModifiedBy>
  <cp:revision>41</cp:revision>
  <cp:lastPrinted>2026-02-11T08:56:25Z</cp:lastPrinted>
  <dcterms:created xsi:type="dcterms:W3CDTF">2025-12-03T21:32:47Z</dcterms:created>
  <dcterms:modified xsi:type="dcterms:W3CDTF">2026-03-25T09:44:34Z</dcterms:modified>
</cp:coreProperties>
</file>